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696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53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E05A5A">
              <a:alpha val="25000"/>
            </a:srgbClr>
          </a:solidFill>
          <a:ln w="12700">
            <a:solidFill>
              <a:srgbClr val="E05A5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2560320" cy="2560320"/>
          </a:xfrm>
          <a:prstGeom prst="ellipse">
            <a:avLst/>
          </a:prstGeom>
          <a:solidFill>
            <a:srgbClr val="E05A5A">
              <a:alpha val="20000"/>
            </a:srgbClr>
          </a:solidFill>
          <a:ln w="12700">
            <a:solidFill>
              <a:srgbClr val="E05A5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Heart Disease</a:t>
            </a:r>
            <a:endParaRPr lang="en-US" sz="4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Prediction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BFBF"/>
                </a:solidFill>
              </a:rPr>
              <a:t>Using Machine Learning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5029200" cy="27432"/>
          </a:xfrm>
          <a:prstGeom prst="rect">
            <a:avLst/>
          </a:prstGeom>
          <a:solidFill>
            <a:srgbClr val="C8D8F0">
              <a:alpha val="50000"/>
            </a:srgbClr>
          </a:solidFill>
          <a:ln w="12700">
            <a:solidFill>
              <a:srgbClr val="C8D8F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8F0"/>
                </a:solidFill>
              </a:rPr>
              <a:t>Algorithm: </a:t>
            </a:r>
            <a:r>
              <a:rPr lang="en-US" sz="1100" dirty="0">
                <a:solidFill>
                  <a:srgbClr val="C8D8F0"/>
                </a:solidFill>
              </a:rPr>
              <a:t>Logistic Regression   </a:t>
            </a:r>
            <a:r>
              <a:rPr lang="en-US" sz="1100" b="1" dirty="0">
                <a:solidFill>
                  <a:srgbClr val="C8D8F0"/>
                </a:solidFill>
              </a:rPr>
              <a:t>Dataset: </a:t>
            </a:r>
            <a:r>
              <a:rPr lang="en-US" sz="1100" dirty="0">
                <a:solidFill>
                  <a:srgbClr val="C8D8F0"/>
                </a:solidFill>
              </a:rPr>
              <a:t>Heart Disease 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D8F0"/>
                </a:solidFill>
              </a:rPr>
              <a:t>Tools: </a:t>
            </a:r>
            <a:r>
              <a:rPr lang="en-US" sz="1100" dirty="0">
                <a:solidFill>
                  <a:srgbClr val="C8D8F0"/>
                </a:solidFill>
              </a:rPr>
              <a:t>Python · Pandas · NumPy · Matplotlib · Seaborn · Scikit-learn                                                                  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88142-5C76-45D0-9868-99C131202BF8}"/>
              </a:ext>
            </a:extLst>
          </p:cNvPr>
          <p:cNvSpPr txBox="1"/>
          <p:nvPr/>
        </p:nvSpPr>
        <p:spPr>
          <a:xfrm>
            <a:off x="7228770" y="3991303"/>
            <a:ext cx="1412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Presented By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MANASA K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2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594360" cy="59436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1247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</a:rPr>
              <a:t>Predict Heart Disease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</a:rPr>
              <a:t>Determine whether a patient is likely to have heart disease from medical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188720"/>
            <a:ext cx="594360" cy="59436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12471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</a:rPr>
              <a:t>Analyze Medical Attributes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53619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</a:rPr>
              <a:t>Identify and study key health features affecting heart health outcomes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044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</a:rPr>
              <a:t>Build Classification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4564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</a:rPr>
              <a:t>Train a Logistic Regression model for binary disease classification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08960"/>
            <a:ext cx="594360" cy="59436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3044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A4A"/>
                </a:solidFill>
              </a:rPr>
              <a:t>Evaluate Performance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34564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</a:rPr>
              <a:t>Assess model using Accuracy, Confusion Matrix, and ROC-AUC metrics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3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1,025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Patient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Input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Binary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Classification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514600"/>
            <a:ext cx="8503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Target Distribution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Heart Disease Present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172968"/>
            <a:ext cx="4389120" cy="201168"/>
          </a:xfrm>
          <a:prstGeom prst="roundRect">
            <a:avLst>
              <a:gd name="adj" fmla="val 22727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3172968"/>
            <a:ext cx="2350008" cy="201168"/>
          </a:xfrm>
          <a:prstGeom prst="roundRect">
            <a:avLst>
              <a:gd name="adj" fmla="val 22727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31455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5A"/>
                </a:solidFill>
              </a:rPr>
              <a:t>526 (51.3%)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538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</a:rPr>
              <a:t>No Heart Disease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3584448"/>
            <a:ext cx="4389120" cy="201168"/>
          </a:xfrm>
          <a:prstGeom prst="roundRect">
            <a:avLst>
              <a:gd name="adj" fmla="val 22727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584448"/>
            <a:ext cx="2130552" cy="201168"/>
          </a:xfrm>
          <a:prstGeom prst="roundRect">
            <a:avLst>
              <a:gd name="adj" fmla="val 22727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BFBF"/>
                </a:solidFill>
              </a:rPr>
              <a:t>499 (48.7%)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</a:rPr>
              <a:t>Well-balanced dataset — ideal for binary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4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1168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Age of the patient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35608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99616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99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1481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Gender (Male/Female)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11096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975104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chest_pain_type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Type of chest pain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386584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450592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50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resting_blood_pressure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11680" y="24323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Blood pressure at rest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62072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92608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26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cholestoral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Cholesterol level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4015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01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fasting_blood_sugar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1168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Fasting blood sugar level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813048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877056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8770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rest_ecg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11680" y="3858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Resting ECG results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960120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02412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024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Max_heart_rate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4652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Maximum heart rate achieved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435608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1499616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499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exercise_induced_angina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6520" y="14813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Chest pain from exercise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1911096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1975104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oldpeak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46520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ST depression by exercise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386584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450592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24505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slope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46520" y="24323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Slope of ST segment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2862072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292608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926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vessels_colored_by_flourosopy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46520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Major vessels (fluoroscopy)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3337560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40156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401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thalassemia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4652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</a:rPr>
              <a:t>Blood disorder test result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Preprocessing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5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475488" cy="47548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Load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Loaded CSV using Pandas into a DataFrame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70432"/>
            <a:ext cx="475488" cy="47548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Remove Duplicates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Checked and removed duplicate patient records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170432"/>
            <a:ext cx="475488" cy="475488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1887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Handle Missing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Verified completeness — no missing values found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Encode Categorical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Applied One-Hot Encoding to categorical columns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3136392"/>
            <a:ext cx="475488" cy="475488"/>
          </a:xfrm>
          <a:prstGeom prst="ellipse">
            <a:avLst/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7764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Train-Test 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80% training, 20% testing using stratified split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3136392"/>
            <a:ext cx="475488" cy="475488"/>
          </a:xfrm>
          <a:prstGeom prst="ellipse">
            <a:avLst/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4A"/>
                </a:solidFill>
              </a:rPr>
              <a:t>Feature Scaling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</a:rPr>
              <a:t>Standardized features using StandardScaler (mean=0, σ=1)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6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Visualizations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347472" cy="347472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093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4A"/>
                </a:solidFill>
              </a:rPr>
              <a:t>Target Distribution Chart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347472" cy="347472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4A"/>
                </a:solidFill>
              </a:rPr>
              <a:t>Correlation Heatmap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347472" cy="347472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7977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4A"/>
                </a:solidFill>
              </a:rPr>
              <a:t>Age Distribution Histogram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347472" cy="347472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649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4A"/>
                </a:solidFill>
              </a:rPr>
              <a:t>Feature Importance Plot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347472" cy="347472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4A"/>
                </a:solidFill>
              </a:rPr>
              <a:t>ROC Curve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EDA Matters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682496"/>
            <a:ext cx="274320" cy="2743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16642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Understand distributions and data quality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2286000"/>
            <a:ext cx="274320" cy="2743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22677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Identify relationships among variables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889504"/>
            <a:ext cx="274320" cy="2743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28712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Detect influential predictive features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493008"/>
            <a:ext cx="274320" cy="2743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3474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Spot class imbalance before modeling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4096512"/>
            <a:ext cx="274320" cy="2743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40782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Guide feature engineering decisions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Building — Logistic Regression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7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0690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Why Logistic Regression?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56032" cy="25603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276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A4A"/>
                </a:solidFill>
              </a:rPr>
              <a:t>Binary outcome (0 or 1) — ideal fit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256032" cy="25603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1284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A4A"/>
                </a:solidFill>
              </a:rPr>
              <a:t>Provides probability estimates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16352"/>
            <a:ext cx="256032" cy="25603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980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A4A"/>
                </a:solidFill>
              </a:rPr>
              <a:t>Fast to train and interpret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01568"/>
            <a:ext cx="256032" cy="25603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832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A4A"/>
                </a:solidFill>
              </a:rPr>
              <a:t>Baseline for classification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86784"/>
            <a:ext cx="256032" cy="256032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684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A4A"/>
                </a:solidFill>
              </a:rPr>
              <a:t>Regularization prevents overfitting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51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5910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16093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80/20 Train-Test 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0056" y="1938528"/>
            <a:ext cx="0" cy="256032"/>
          </a:xfrm>
          <a:prstGeom prst="line">
            <a:avLst/>
          </a:prstGeom>
          <a:noFill/>
          <a:ln w="19050">
            <a:solidFill>
              <a:srgbClr val="C8D8F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1945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2128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StandardScaler feature scaling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0056" y="2542032"/>
            <a:ext cx="0" cy="256032"/>
          </a:xfrm>
          <a:prstGeom prst="line">
            <a:avLst/>
          </a:prstGeom>
          <a:noFill/>
          <a:ln w="19050">
            <a:solidFill>
              <a:srgbClr val="C8D8F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7980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8163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Fit LogisticRegression(max_iter=1000)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0056" y="3145536"/>
            <a:ext cx="0" cy="256032"/>
          </a:xfrm>
          <a:prstGeom prst="line">
            <a:avLst/>
          </a:prstGeom>
          <a:noFill/>
          <a:ln w="19050">
            <a:solidFill>
              <a:srgbClr val="C8D8F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4015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4198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Predict on test set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0056" y="3749040"/>
            <a:ext cx="0" cy="256032"/>
          </a:xfrm>
          <a:prstGeom prst="line">
            <a:avLst/>
          </a:prstGeom>
          <a:noFill/>
          <a:ln w="19050">
            <a:solidFill>
              <a:srgbClr val="C8D8F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4005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40233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8D8F0"/>
                </a:solidFill>
              </a:rPr>
              <a:t>Evaluate with metrics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8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43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D8F0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05A5A"/>
                </a:solidFill>
              </a:rPr>
              <a:t>85.25%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</a:rPr>
              <a:t>on test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2BBFBF">
              <a:alpha val="80000"/>
            </a:srgbClr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ROC-AUC: Excellent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96012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234440"/>
            <a:ext cx="502920" cy="502920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10698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14173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Shows TP, TN, FP, FN predictions vs actuals. Reveals where model makes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224028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514600"/>
            <a:ext cx="502920" cy="502920"/>
          </a:xfrm>
          <a:prstGeom prst="ellipse">
            <a:avLst/>
          </a:prstGeom>
          <a:solidFill>
            <a:srgbClr val="2BBFBF"/>
          </a:solidFill>
          <a:ln w="12700">
            <a:solidFill>
              <a:srgbClr val="2B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06240" y="2350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Classification Report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697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Per-class Precision, Recall, and F1-Score for both disease and no-disease.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52044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66160" y="3794760"/>
            <a:ext cx="502920" cy="502920"/>
          </a:xfrm>
          <a:prstGeom prst="ellipse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0624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ROC Curve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39776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Trade-off between True Positive Rate and False Positive Rate at various thresholds.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Visual Results &amp; Outputs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10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24712"/>
            <a:ext cx="2423160" cy="777240"/>
          </a:xfrm>
          <a:prstGeom prst="roundRect">
            <a:avLst>
              <a:gd name="adj" fmla="val 7059"/>
            </a:avLst>
          </a:prstGeom>
          <a:solidFill>
            <a:srgbClr val="1A2A4A">
              <a:alpha val="90000"/>
            </a:srgbClr>
          </a:solidFill>
          <a:ln w="12700">
            <a:solidFill>
              <a:srgbClr val="1A2A4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A4A"/>
                </a:solidFill>
              </a:rPr>
              <a:t>Correlation Heatmap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Shows relationships between all 13 features and the target variable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24712"/>
            <a:ext cx="2423160" cy="777240"/>
          </a:xfrm>
          <a:prstGeom prst="roundRect">
            <a:avLst>
              <a:gd name="adj" fmla="val 7059"/>
            </a:avLst>
          </a:prstGeom>
          <a:solidFill>
            <a:srgbClr val="1A2A4A">
              <a:alpha val="90000"/>
            </a:srgbClr>
          </a:solidFill>
          <a:ln w="12700">
            <a:solidFill>
              <a:srgbClr val="1A2A4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24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1975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A4A"/>
                </a:solidFill>
              </a:rPr>
              <a:t>Confusion Matrix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3134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4-cell matrix showing correct and incorrect predictions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98755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24712"/>
            <a:ext cx="2423160" cy="777240"/>
          </a:xfrm>
          <a:prstGeom prst="roundRect">
            <a:avLst>
              <a:gd name="adj" fmla="val 7059"/>
            </a:avLst>
          </a:prstGeom>
          <a:solidFill>
            <a:srgbClr val="1A2A4A">
              <a:alpha val="90000"/>
            </a:srgbClr>
          </a:solidFill>
          <a:ln w="12700">
            <a:solidFill>
              <a:srgbClr val="1A2A4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24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19751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A4A"/>
                </a:solidFill>
              </a:rPr>
              <a:t>ROC Curve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23134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AUC area demonstrating discriminative power of the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88720" y="3090672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25880" y="3227832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1A2A4A">
              <a:alpha val="90000"/>
            </a:srgbClr>
          </a:solidFill>
          <a:ln w="12700">
            <a:solidFill>
              <a:srgbClr val="1A2A4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2278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25880" y="40782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A4A"/>
                </a:solidFill>
              </a:rPr>
              <a:t>Feature Importance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325880" y="4416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Ranked visualization of top predictors via model coefficients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90672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227832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1A2A4A">
              <a:alpha val="90000"/>
            </a:srgbClr>
          </a:solidFill>
          <a:ln w="12700">
            <a:solidFill>
              <a:srgbClr val="1A2A4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278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00600" y="40782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A4A"/>
                </a:solidFill>
              </a:rPr>
              <a:t>Actual vs Predicted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4416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</a:rPr>
              <a:t>Side-by-side comparison of ground truth and model output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BBFBF">
              <a:alpha val="15000"/>
            </a:srgbClr>
          </a:solidFill>
          <a:ln w="12700">
            <a:solidFill>
              <a:srgbClr val="2BBFB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"/>
            <a:ext cx="64008" cy="45720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0" y="118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8D8F0"/>
                </a:solidFill>
              </a:rPr>
              <a:t>11 / 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Successfully built a Heart Disease Prediction model using Logistic Regression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0574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Performed thorough data preprocessing: cleaning, encoding, and scaling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Achieved 85.25% accuracy with excellent ROC-AUC classification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9776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Model can assist clinicians in early identification of heart disease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8F0"/>
                </a:solidFill>
              </a:rPr>
              <a:t>This project demonstrates a complete ML pipeline applicable to real-world healthcare diagnostics.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E05A5A">
              <a:alpha val="15000"/>
            </a:srgbClr>
          </a:solidFill>
          <a:ln w="12700">
            <a:solidFill>
              <a:srgbClr val="E05A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BBFBF">
              <a:alpha val="15000"/>
            </a:srgbClr>
          </a:solidFill>
          <a:ln w="12700">
            <a:solidFill>
              <a:srgbClr val="2BBFB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BBFBF"/>
                </a:solidFill>
              </a:rPr>
              <a:t>Questions &amp; Answers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8F0"/>
                </a:solidFill>
              </a:rPr>
              <a:t>Algorithm: </a:t>
            </a:r>
            <a:r>
              <a:rPr lang="en-US" sz="1200" dirty="0">
                <a:solidFill>
                  <a:srgbClr val="C8D8F0"/>
                </a:solidFill>
              </a:rPr>
              <a:t>Logistic Regression  |  </a:t>
            </a:r>
            <a:r>
              <a:rPr lang="en-US" sz="1200" b="1" dirty="0">
                <a:solidFill>
                  <a:srgbClr val="C8D8F0"/>
                </a:solidFill>
              </a:rPr>
              <a:t>Dataset: </a:t>
            </a:r>
            <a:r>
              <a:rPr lang="en-US" sz="1200" dirty="0">
                <a:solidFill>
                  <a:srgbClr val="C8D8F0"/>
                </a:solidFill>
              </a:rPr>
              <a:t>Heart Disease  |  </a:t>
            </a:r>
            <a:r>
              <a:rPr lang="en-US" sz="1200" b="1" dirty="0">
                <a:solidFill>
                  <a:srgbClr val="C8D8F0"/>
                </a:solidFill>
              </a:rPr>
              <a:t>Accuracy</a:t>
            </a:r>
            <a:r>
              <a:rPr lang="en-US" sz="1200" b="1">
                <a:solidFill>
                  <a:srgbClr val="C8D8F0"/>
                </a:solidFill>
              </a:rPr>
              <a:t>: </a:t>
            </a:r>
            <a:r>
              <a:rPr lang="en-US" sz="1200">
                <a:solidFill>
                  <a:srgbClr val="C8D8F0"/>
                </a:solidFill>
              </a:rPr>
              <a:t>85.25%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651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Using Machine Learning</dc:title>
  <dc:subject>PptxGenJS Presentation</dc:subject>
  <dc:creator>PptxGenJS</dc:creator>
  <cp:lastModifiedBy>Rajesh BK</cp:lastModifiedBy>
  <cp:revision>3</cp:revision>
  <dcterms:created xsi:type="dcterms:W3CDTF">2026-06-11T05:36:37Z</dcterms:created>
  <dcterms:modified xsi:type="dcterms:W3CDTF">2026-06-11T06:27:53Z</dcterms:modified>
</cp:coreProperties>
</file>